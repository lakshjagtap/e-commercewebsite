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Arimo Bold" panose="020B0604020202020204" charset="0"/>
      <p:regular r:id="rId17"/>
    </p:embeddedFont>
    <p:embeddedFont>
      <p:font typeface="Helios" panose="020B0604020202020204" charset="0"/>
      <p:regular r:id="rId18"/>
    </p:embeddedFont>
    <p:embeddedFont>
      <p:font typeface="Helios Bold" panose="020B0604020202020204" charset="0"/>
      <p:regular r:id="rId19"/>
    </p:embeddedFont>
    <p:embeddedFont>
      <p:font typeface="Canva Sans" panose="020B0604020202020204" charset="0"/>
      <p:regular r:id="rId20"/>
    </p:embeddedFont>
    <p:embeddedFont>
      <p:font typeface="Canva Sans Bold" panose="020B0604020202020204" charset="0"/>
      <p:regular r:id="rId21"/>
    </p:embeddedFont>
    <p:embeddedFont>
      <p:font typeface="Klein Bold" panose="020B0604020202020204" charset="0"/>
      <p:regular r:id="rId22"/>
    </p:embeddedFont>
    <p:embeddedFont>
      <p:font typeface="Arimo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6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6.sv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.sv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66927" y="-4280359"/>
            <a:ext cx="10812392" cy="10812392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125837"/>
            <a:ext cx="5089355" cy="669023"/>
            <a:chOff x="0" y="0"/>
            <a:chExt cx="6785807" cy="892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49862" cy="892031"/>
            </a:xfrm>
            <a:custGeom>
              <a:avLst/>
              <a:gdLst/>
              <a:ahLst/>
              <a:cxnLst/>
              <a:rect l="l" t="t" r="r" b="b"/>
              <a:pathLst>
                <a:path w="849862" h="892031">
                  <a:moveTo>
                    <a:pt x="0" y="0"/>
                  </a:moveTo>
                  <a:lnTo>
                    <a:pt x="849862" y="0"/>
                  </a:lnTo>
                  <a:lnTo>
                    <a:pt x="849862" y="892031"/>
                  </a:lnTo>
                  <a:lnTo>
                    <a:pt x="0" y="892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1211798" y="120967"/>
              <a:ext cx="5574009" cy="583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spcBef>
                  <a:spcPct val="0"/>
                </a:spcBef>
              </a:pPr>
              <a:r>
                <a:rPr lang="en-US" sz="2598">
                  <a:solidFill>
                    <a:srgbClr val="F4F4F4"/>
                  </a:solidFill>
                  <a:latin typeface="Helios"/>
                  <a:ea typeface="Helios"/>
                  <a:cs typeface="Helios"/>
                  <a:sym typeface="Helios"/>
                </a:rPr>
                <a:t>BLOCKCHAIN 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-3407200" y="4432068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7078" y="7902203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738461" y="2575444"/>
            <a:ext cx="9520839" cy="181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5"/>
              </a:lnSpc>
            </a:pPr>
            <a:r>
              <a:rPr lang="en-US" sz="5971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BLOCK CHAIN IN SUPPLY       CHAIN MANAGEMENT</a:t>
            </a:r>
          </a:p>
        </p:txBody>
      </p:sp>
      <p:sp>
        <p:nvSpPr>
          <p:cNvPr id="9" name="Freeform 9"/>
          <p:cNvSpPr/>
          <p:nvPr/>
        </p:nvSpPr>
        <p:spPr>
          <a:xfrm>
            <a:off x="487250" y="4432068"/>
            <a:ext cx="5334211" cy="4366901"/>
          </a:xfrm>
          <a:custGeom>
            <a:avLst/>
            <a:gdLst/>
            <a:ahLst/>
            <a:cxnLst/>
            <a:rect l="l" t="t" r="r" b="b"/>
            <a:pathLst>
              <a:path w="5334211" h="4366901">
                <a:moveTo>
                  <a:pt x="0" y="0"/>
                </a:moveTo>
                <a:lnTo>
                  <a:pt x="5334211" y="0"/>
                </a:lnTo>
                <a:lnTo>
                  <a:pt x="5334211" y="4366902"/>
                </a:lnTo>
                <a:lnTo>
                  <a:pt x="0" y="43669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961" r="-2496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434648" y="5753350"/>
            <a:ext cx="10128466" cy="314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0847" lvl="1" indent="-375424" algn="just">
              <a:lnSpc>
                <a:spcPts val="4868"/>
              </a:lnSpc>
              <a:spcBef>
                <a:spcPct val="0"/>
              </a:spcBef>
              <a:buFont typeface="Arial"/>
              <a:buChar char="•"/>
            </a:pPr>
            <a:r>
              <a:rPr lang="en-US" sz="3477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Title: </a:t>
            </a:r>
            <a:r>
              <a:rPr lang="en-US" sz="3477" dirty="0" err="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Blockchain</a:t>
            </a:r>
            <a:r>
              <a:rPr lang="en-US" sz="3477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in Supply Chain Management</a:t>
            </a:r>
          </a:p>
          <a:p>
            <a:pPr marL="750847" lvl="1" indent="-375424" algn="just">
              <a:lnSpc>
                <a:spcPts val="4868"/>
              </a:lnSpc>
              <a:spcBef>
                <a:spcPct val="0"/>
              </a:spcBef>
              <a:buFont typeface="Arial"/>
              <a:buChar char="•"/>
            </a:pPr>
            <a:r>
              <a:rPr lang="en-US" sz="3477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Roll No: </a:t>
            </a:r>
            <a:r>
              <a:rPr lang="en-US" sz="3477" dirty="0" smtClean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23 (T.E-comp, </a:t>
            </a:r>
            <a:r>
              <a:rPr lang="en-US" sz="3477" dirty="0" err="1" smtClean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Div</a:t>
            </a:r>
            <a:r>
              <a:rPr lang="en-US" sz="3477" dirty="0" smtClean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-A)</a:t>
            </a:r>
            <a:endParaRPr lang="en-US" sz="3477" dirty="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marL="750847" lvl="1" indent="-375424" algn="just">
              <a:lnSpc>
                <a:spcPts val="4868"/>
              </a:lnSpc>
              <a:spcBef>
                <a:spcPct val="0"/>
              </a:spcBef>
              <a:buFont typeface="Arial"/>
              <a:buChar char="•"/>
            </a:pPr>
            <a:r>
              <a:rPr lang="en-US" sz="3477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Name of Student: Nikhil </a:t>
            </a:r>
            <a:r>
              <a:rPr lang="en-US" sz="3477" dirty="0" err="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Babasaheb</a:t>
            </a:r>
            <a:r>
              <a:rPr lang="en-US" sz="3477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  <a:r>
              <a:rPr lang="en-US" sz="3477" dirty="0" err="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Jagtap</a:t>
            </a:r>
            <a:endParaRPr lang="en-US" sz="3477" dirty="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marL="750847" lvl="1" indent="-375424" algn="just">
              <a:lnSpc>
                <a:spcPts val="4868"/>
              </a:lnSpc>
              <a:spcBef>
                <a:spcPct val="0"/>
              </a:spcBef>
              <a:buFont typeface="Arial"/>
              <a:buChar char="•"/>
            </a:pPr>
            <a:r>
              <a:rPr lang="en-US" sz="3477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Name of Guide: </a:t>
            </a:r>
            <a:r>
              <a:rPr lang="en-US" sz="3477" dirty="0" err="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Shobha</a:t>
            </a:r>
            <a:r>
              <a:rPr lang="en-US" sz="3477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  <a:r>
              <a:rPr lang="en-US" sz="3477" dirty="0" err="1" smtClean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Bamane</a:t>
            </a:r>
            <a:r>
              <a:rPr lang="en-US" sz="3477" smtClean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Ma’am</a:t>
            </a:r>
            <a:endParaRPr lang="en-US" sz="3477" dirty="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ctr">
              <a:lnSpc>
                <a:spcPts val="4868"/>
              </a:lnSpc>
              <a:spcBef>
                <a:spcPct val="0"/>
              </a:spcBef>
            </a:pPr>
            <a:endParaRPr lang="en-US" sz="3477" dirty="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166658" cy="2015997"/>
            <a:chOff x="0" y="0"/>
            <a:chExt cx="24222211" cy="268799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35088" b="48254"/>
            <a:stretch>
              <a:fillRect/>
            </a:stretch>
          </p:blipFill>
          <p:spPr>
            <a:xfrm>
              <a:off x="0" y="0"/>
              <a:ext cx="24222211" cy="2687995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9525" y="2015997"/>
            <a:ext cx="18278475" cy="8271003"/>
            <a:chOff x="0" y="0"/>
            <a:chExt cx="4814084" cy="21783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4084" cy="2178371"/>
            </a:xfrm>
            <a:custGeom>
              <a:avLst/>
              <a:gdLst/>
              <a:ahLst/>
              <a:cxnLst/>
              <a:rect l="l" t="t" r="r" b="b"/>
              <a:pathLst>
                <a:path w="4814084" h="2178371">
                  <a:moveTo>
                    <a:pt x="0" y="0"/>
                  </a:moveTo>
                  <a:lnTo>
                    <a:pt x="4814084" y="0"/>
                  </a:lnTo>
                  <a:lnTo>
                    <a:pt x="4814084" y="2178371"/>
                  </a:lnTo>
                  <a:lnTo>
                    <a:pt x="0" y="217837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4084" cy="2245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320028" y="420687"/>
            <a:ext cx="9008992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 Introduction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8333203" y="-1109791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333203" y="9678747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33485" y="2363516"/>
            <a:ext cx="12127157" cy="7315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7"/>
              </a:lnSpc>
            </a:pPr>
            <a:r>
              <a:rPr lang="en-US" sz="29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Definition of Blockchain:</a:t>
            </a:r>
          </a:p>
          <a:p>
            <a:pPr marL="638047" lvl="1" indent="-319023" algn="l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Blockchain is a decentralized, distributed ledger technology that records transactions across many computers in such a way that the registered transactions cannot be altered retroactively. This ensures transparency and security.[1]</a:t>
            </a:r>
          </a:p>
          <a:p>
            <a:pPr algn="l">
              <a:lnSpc>
                <a:spcPts val="4137"/>
              </a:lnSpc>
            </a:pPr>
            <a:r>
              <a:rPr lang="en-US" sz="29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Importance in Supply Chain Management:</a:t>
            </a:r>
          </a:p>
          <a:p>
            <a:pPr marL="638047" lvl="1" indent="-319023" algn="l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Supply chains are complex networks involving multiple stakeholders, including suppliers, manufacturers, distributors, retailers, and customers. Inefficiencies such as delays, fraud, and lack of visibility can lead to significant financial losses.</a:t>
            </a:r>
          </a:p>
          <a:p>
            <a:pPr marL="638047" lvl="1" indent="-319023" algn="l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Blockchain technology addresses these issues by providing a transparent and secure method for tracking products and transactions throughout the supply chain.[2]</a:t>
            </a:r>
          </a:p>
          <a:p>
            <a:pPr algn="just">
              <a:lnSpc>
                <a:spcPts val="4137"/>
              </a:lnSpc>
            </a:pPr>
            <a:endParaRPr lang="en-US" sz="295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2955096" y="3581474"/>
            <a:ext cx="4965506" cy="4936464"/>
          </a:xfrm>
          <a:custGeom>
            <a:avLst/>
            <a:gdLst/>
            <a:ahLst/>
            <a:cxnLst/>
            <a:rect l="l" t="t" r="r" b="b"/>
            <a:pathLst>
              <a:path w="4965506" h="4936464">
                <a:moveTo>
                  <a:pt x="0" y="0"/>
                </a:moveTo>
                <a:lnTo>
                  <a:pt x="4965507" y="0"/>
                </a:lnTo>
                <a:lnTo>
                  <a:pt x="4965507" y="4936465"/>
                </a:lnTo>
                <a:lnTo>
                  <a:pt x="0" y="49364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1941"/>
            </a:stretch>
          </a:blipFill>
        </p:spPr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20236" y="-91896"/>
            <a:ext cx="11696998" cy="11696998"/>
            <a:chOff x="0" y="0"/>
            <a:chExt cx="15595998" cy="15595998"/>
          </a:xfrm>
        </p:grpSpPr>
        <p:sp>
          <p:nvSpPr>
            <p:cNvPr id="3" name="Freeform 3"/>
            <p:cNvSpPr/>
            <p:nvPr/>
          </p:nvSpPr>
          <p:spPr>
            <a:xfrm rot="-1200957">
              <a:off x="1714743" y="1714743"/>
              <a:ext cx="12166511" cy="12166511"/>
            </a:xfrm>
            <a:custGeom>
              <a:avLst/>
              <a:gdLst/>
              <a:ahLst/>
              <a:cxnLst/>
              <a:rect l="l" t="t" r="r" b="b"/>
              <a:pathLst>
                <a:path w="12166511" h="12166511">
                  <a:moveTo>
                    <a:pt x="0" y="0"/>
                  </a:moveTo>
                  <a:lnTo>
                    <a:pt x="12166511" y="0"/>
                  </a:lnTo>
                  <a:lnTo>
                    <a:pt x="12166511" y="12166511"/>
                  </a:lnTo>
                  <a:lnTo>
                    <a:pt x="0" y="1216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55963" y="1555963"/>
              <a:ext cx="12166511" cy="12166511"/>
            </a:xfrm>
            <a:custGeom>
              <a:avLst/>
              <a:gdLst/>
              <a:ahLst/>
              <a:cxnLst/>
              <a:rect l="l" t="t" r="r" b="b"/>
              <a:pathLst>
                <a:path w="12166511" h="12166511">
                  <a:moveTo>
                    <a:pt x="0" y="0"/>
                  </a:moveTo>
                  <a:lnTo>
                    <a:pt x="12166511" y="0"/>
                  </a:lnTo>
                  <a:lnTo>
                    <a:pt x="12166511" y="12166511"/>
                  </a:lnTo>
                  <a:lnTo>
                    <a:pt x="0" y="1216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0596884" y="2484753"/>
            <a:ext cx="6543700" cy="6543700"/>
          </a:xfrm>
          <a:custGeom>
            <a:avLst/>
            <a:gdLst/>
            <a:ahLst/>
            <a:cxnLst/>
            <a:rect l="l" t="t" r="r" b="b"/>
            <a:pathLst>
              <a:path w="6543700" h="6543700">
                <a:moveTo>
                  <a:pt x="0" y="0"/>
                </a:moveTo>
                <a:lnTo>
                  <a:pt x="6543701" y="0"/>
                </a:lnTo>
                <a:lnTo>
                  <a:pt x="6543701" y="6543700"/>
                </a:lnTo>
                <a:lnTo>
                  <a:pt x="0" y="6543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28575" cap="rnd">
            <a:solidFill>
              <a:srgbClr val="000000"/>
            </a:solidFill>
            <a:prstDash val="dash"/>
            <a:round/>
          </a:ln>
        </p:spPr>
      </p:sp>
      <p:sp>
        <p:nvSpPr>
          <p:cNvPr id="6" name="TextBox 6"/>
          <p:cNvSpPr txBox="1"/>
          <p:nvPr/>
        </p:nvSpPr>
        <p:spPr>
          <a:xfrm>
            <a:off x="813784" y="420687"/>
            <a:ext cx="8951339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AIMS &amp;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031" y="1787148"/>
            <a:ext cx="9474364" cy="843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3194" b="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Aim:</a:t>
            </a:r>
          </a:p>
          <a:p>
            <a:pPr marL="689700" lvl="1" indent="-344850" algn="l">
              <a:lnSpc>
                <a:spcPts val="4472"/>
              </a:lnSpc>
              <a:spcBef>
                <a:spcPct val="0"/>
              </a:spcBef>
              <a:buFont typeface="Arial"/>
              <a:buChar char="•"/>
            </a:pPr>
            <a:r>
              <a:rPr lang="en-US" sz="3194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To analyze how blockchain technology can be integrated into supply chain management to enhance efficiency, transparency, and security.</a:t>
            </a:r>
          </a:p>
          <a:p>
            <a:pPr algn="l">
              <a:lnSpc>
                <a:spcPts val="4472"/>
              </a:lnSpc>
              <a:spcBef>
                <a:spcPct val="0"/>
              </a:spcBef>
            </a:pPr>
            <a:endParaRPr lang="en-US" sz="3194">
              <a:solidFill>
                <a:srgbClr val="2A2E3A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l">
              <a:lnSpc>
                <a:spcPts val="4472"/>
              </a:lnSpc>
              <a:spcBef>
                <a:spcPct val="0"/>
              </a:spcBef>
            </a:pPr>
            <a:r>
              <a:rPr lang="en-US" sz="3194" b="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Objectives:</a:t>
            </a:r>
          </a:p>
          <a:p>
            <a:pPr marL="689700" lvl="1" indent="-344850" algn="l">
              <a:lnSpc>
                <a:spcPts val="4472"/>
              </a:lnSpc>
              <a:spcBef>
                <a:spcPct val="0"/>
              </a:spcBef>
              <a:buAutoNum type="arabicPeriod"/>
            </a:pPr>
            <a:r>
              <a:rPr lang="en-US" sz="3194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Identify and assess current supply chain challenges.</a:t>
            </a:r>
          </a:p>
          <a:p>
            <a:pPr marL="689700" lvl="1" indent="-344850" algn="l">
              <a:lnSpc>
                <a:spcPts val="4472"/>
              </a:lnSpc>
              <a:spcBef>
                <a:spcPct val="0"/>
              </a:spcBef>
              <a:buAutoNum type="arabicPeriod"/>
            </a:pPr>
            <a:r>
              <a:rPr lang="en-US" sz="3194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Explore how blockchain can address these challenges.</a:t>
            </a:r>
          </a:p>
          <a:p>
            <a:pPr marL="689700" lvl="1" indent="-344850" algn="l">
              <a:lnSpc>
                <a:spcPts val="4472"/>
              </a:lnSpc>
              <a:spcBef>
                <a:spcPct val="0"/>
              </a:spcBef>
              <a:buAutoNum type="arabicPeriod"/>
            </a:pPr>
            <a:r>
              <a:rPr lang="en-US" sz="3194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Examine real-world implementations of blockchain in supply chains.</a:t>
            </a:r>
          </a:p>
          <a:p>
            <a:pPr marL="689700" lvl="1" indent="-344850" algn="l">
              <a:lnSpc>
                <a:spcPts val="4472"/>
              </a:lnSpc>
              <a:spcBef>
                <a:spcPct val="0"/>
              </a:spcBef>
              <a:buAutoNum type="arabicPeriod"/>
            </a:pPr>
            <a:r>
              <a:rPr lang="en-US" sz="3194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Evaluate the potential advantages and disadvantages of blockchain adoption.</a:t>
            </a:r>
          </a:p>
          <a:p>
            <a:pPr algn="ctr">
              <a:lnSpc>
                <a:spcPts val="4472"/>
              </a:lnSpc>
              <a:spcBef>
                <a:spcPct val="0"/>
              </a:spcBef>
            </a:pPr>
            <a:endParaRPr lang="en-US" sz="3194">
              <a:solidFill>
                <a:srgbClr val="2A2E3A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6102">
            <a:off x="437268" y="9137532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19106" y="-592894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18834" y="2040928"/>
            <a:ext cx="10484915" cy="6176568"/>
          </a:xfrm>
          <a:custGeom>
            <a:avLst/>
            <a:gdLst/>
            <a:ahLst/>
            <a:cxnLst/>
            <a:rect l="l" t="t" r="r" b="b"/>
            <a:pathLst>
              <a:path w="10484915" h="6176568">
                <a:moveTo>
                  <a:pt x="0" y="0"/>
                </a:moveTo>
                <a:lnTo>
                  <a:pt x="10484915" y="0"/>
                </a:lnTo>
                <a:lnTo>
                  <a:pt x="10484915" y="6176569"/>
                </a:lnTo>
                <a:lnTo>
                  <a:pt x="0" y="6176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074302" y="420687"/>
            <a:ext cx="15184998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SYSTEM ARCHITECTURE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14165" y="8631237"/>
            <a:ext cx="11894252" cy="137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Figure 1. Industry 4.0 architecture based on blockchain. (The red elements represent the impact of integrating blockchain in the architecture of Industry 4.0.)  [4]</a:t>
            </a: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376103" y="1698770"/>
          <a:ext cx="10228087" cy="8325680"/>
        </p:xfrm>
        <a:graphic>
          <a:graphicData uri="http://schemas.openxmlformats.org/drawingml/2006/table">
            <a:tbl>
              <a:tblPr/>
              <a:tblGrid>
                <a:gridCol w="54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8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5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2115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Transparency: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Every transaction is recorded and visible to all authorized parties. This reduces information asymmetry and increases accountability.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2115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Traceability: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Blockchain allows the tracking of products at every stage, from production to delivery, which is especially important for industries like food and pharmaceuticals.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335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Efficiency: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Automation through smart contracts reduces the need for intermediaries, thus reducing processing times and human error.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2115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Security: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Blockchain's cryptographic nature ensures that data cannot be altered or tampered with once recorded, providing a secure and reliable audit trail.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10911731" y="3628788"/>
            <a:ext cx="7135185" cy="4465645"/>
          </a:xfrm>
          <a:custGeom>
            <a:avLst/>
            <a:gdLst/>
            <a:ahLst/>
            <a:cxnLst/>
            <a:rect l="l" t="t" r="r" b="b"/>
            <a:pathLst>
              <a:path w="7135185" h="4465645">
                <a:moveTo>
                  <a:pt x="0" y="0"/>
                </a:moveTo>
                <a:lnTo>
                  <a:pt x="7135185" y="0"/>
                </a:lnTo>
                <a:lnTo>
                  <a:pt x="7135185" y="4465645"/>
                </a:lnTo>
                <a:lnTo>
                  <a:pt x="0" y="4465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24" r="-9131"/>
            </a:stretch>
          </a:blipFill>
          <a:ln w="38100" cap="sq">
            <a:solidFill>
              <a:srgbClr val="000000"/>
            </a:solidFill>
            <a:prstDash val="dash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2551182" y="337884"/>
            <a:ext cx="13508011" cy="690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2"/>
              </a:lnSpc>
            </a:pPr>
            <a:r>
              <a:rPr lang="en-US" sz="4233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ADVANTAGES OF BLOCKCHAIN IN SUPPLY CHAIN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11731" y="8538548"/>
            <a:ext cx="7135185" cy="71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2038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Figure : Bar chart showing the impact of blockchain on supply chain efficiency, transparency, and security.[2]</a:t>
            </a: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73983" y="1822139"/>
          <a:ext cx="11135909" cy="7896225"/>
        </p:xfrm>
        <a:graphic>
          <a:graphicData uri="http://schemas.openxmlformats.org/drawingml/2006/table">
            <a:tbl>
              <a:tblPr/>
              <a:tblGrid>
                <a:gridCol w="569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84878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High Initial Costs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The cost of implementing blockchain systems, including infrastructure and training, can be prohibitive for many organizations.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3235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Scalability Issues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As more transactions are added to the blockchain, some systems struggle to handle high volumes without slowing down.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4878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Lack of Standardization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There are currently no universally accepted standards for blockchain technology, making it challenging to implement across diverse supply chains.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3235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Regulatory Concerns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Many governments and organizations are still uncertain about how blockchain fits into existing legal and regulatory frameworks.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11536366" y="3051466"/>
            <a:ext cx="6512167" cy="4184067"/>
          </a:xfrm>
          <a:custGeom>
            <a:avLst/>
            <a:gdLst/>
            <a:ahLst/>
            <a:cxnLst/>
            <a:rect l="l" t="t" r="r" b="b"/>
            <a:pathLst>
              <a:path w="6512167" h="4184067">
                <a:moveTo>
                  <a:pt x="0" y="0"/>
                </a:moveTo>
                <a:lnTo>
                  <a:pt x="6512166" y="0"/>
                </a:lnTo>
                <a:lnTo>
                  <a:pt x="6512166" y="4184068"/>
                </a:lnTo>
                <a:lnTo>
                  <a:pt x="0" y="4184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57150" cap="sq">
            <a:solidFill>
              <a:srgbClr val="000000"/>
            </a:solidFill>
            <a:prstDash val="dash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2389995" y="659480"/>
            <a:ext cx="13508011" cy="690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2"/>
              </a:lnSpc>
            </a:pPr>
            <a:r>
              <a:rPr lang="en-US" sz="4233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ADVANTAGES OF BLOCKCHAIN IN SUPPLY CHAIN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36366" y="7615329"/>
            <a:ext cx="6512167" cy="115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201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Figure : Pie chart showing common barriers to blockchain adoption (e.g., costs, scalability, regulatory concerns). [4],[5]</a:t>
            </a:r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96887"/>
            <a:ext cx="18288000" cy="1367262"/>
            <a:chOff x="0" y="0"/>
            <a:chExt cx="4816593" cy="360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60102"/>
            </a:xfrm>
            <a:custGeom>
              <a:avLst/>
              <a:gdLst/>
              <a:ahLst/>
              <a:cxnLst/>
              <a:rect l="l" t="t" r="r" b="b"/>
              <a:pathLst>
                <a:path w="4816592" h="360102">
                  <a:moveTo>
                    <a:pt x="0" y="0"/>
                  </a:moveTo>
                  <a:lnTo>
                    <a:pt x="4816592" y="0"/>
                  </a:lnTo>
                  <a:lnTo>
                    <a:pt x="4816592" y="360102"/>
                  </a:lnTo>
                  <a:lnTo>
                    <a:pt x="0" y="360102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40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18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900686" y="4009924"/>
            <a:ext cx="6919257" cy="4301084"/>
          </a:xfrm>
          <a:custGeom>
            <a:avLst/>
            <a:gdLst/>
            <a:ahLst/>
            <a:cxnLst/>
            <a:rect l="l" t="t" r="r" b="b"/>
            <a:pathLst>
              <a:path w="6919257" h="4301084">
                <a:moveTo>
                  <a:pt x="0" y="0"/>
                </a:moveTo>
                <a:lnTo>
                  <a:pt x="6919257" y="0"/>
                </a:lnTo>
                <a:lnTo>
                  <a:pt x="6919257" y="4301085"/>
                </a:lnTo>
                <a:lnTo>
                  <a:pt x="0" y="43010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80" b="-1680"/>
            </a:stretch>
          </a:blipFill>
          <a:ln cap="rnd">
            <a:noFill/>
            <a:prstDash val="solid"/>
            <a:round/>
          </a:ln>
        </p:spPr>
      </p:sp>
      <p:sp>
        <p:nvSpPr>
          <p:cNvPr id="6" name="TextBox 6"/>
          <p:cNvSpPr txBox="1"/>
          <p:nvPr/>
        </p:nvSpPr>
        <p:spPr>
          <a:xfrm>
            <a:off x="6056720" y="642991"/>
            <a:ext cx="6174559" cy="998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0"/>
              </a:lnSpc>
            </a:pPr>
            <a:r>
              <a:rPr lang="en-US" sz="6100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CONCLUSION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5011" y="2236484"/>
            <a:ext cx="9677983" cy="7021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3"/>
              </a:lnSpc>
            </a:pPr>
            <a:r>
              <a:rPr lang="en-US" sz="3323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Summary:</a:t>
            </a:r>
          </a:p>
          <a:p>
            <a:pPr marL="717613" lvl="1" indent="-358807" algn="l">
              <a:lnSpc>
                <a:spcPts val="4653"/>
              </a:lnSpc>
              <a:buFont typeface="Arial"/>
              <a:buChar char="•"/>
            </a:pPr>
            <a:r>
              <a:rPr lang="en-US" sz="3323">
                <a:solidFill>
                  <a:srgbClr val="2A2E3A"/>
                </a:solidFill>
                <a:latin typeface="Canva Sans"/>
                <a:ea typeface="Canva Sans"/>
                <a:cs typeface="Canva Sans"/>
                <a:sym typeface="Canva Sans"/>
              </a:rPr>
              <a:t>Blockchain is a powerful tool for enhancing transparency, security, and efficiency in supply chains.</a:t>
            </a:r>
          </a:p>
          <a:p>
            <a:pPr marL="717613" lvl="1" indent="-358807" algn="l">
              <a:lnSpc>
                <a:spcPts val="4653"/>
              </a:lnSpc>
              <a:buFont typeface="Arial"/>
              <a:buChar char="•"/>
            </a:pPr>
            <a:r>
              <a:rPr lang="en-US" sz="3323">
                <a:solidFill>
                  <a:srgbClr val="2A2E3A"/>
                </a:solidFill>
                <a:latin typeface="Canva Sans"/>
                <a:ea typeface="Canva Sans"/>
                <a:cs typeface="Canva Sans"/>
                <a:sym typeface="Canva Sans"/>
              </a:rPr>
              <a:t>Despite its advantages, challenges like cost, scalability, and regulatory hurdles need to be addressed for widespread adoption.</a:t>
            </a:r>
          </a:p>
          <a:p>
            <a:pPr marL="717613" lvl="1" indent="-358807" algn="l">
              <a:lnSpc>
                <a:spcPts val="4653"/>
              </a:lnSpc>
              <a:buFont typeface="Arial"/>
              <a:buChar char="•"/>
            </a:pPr>
            <a:r>
              <a:rPr lang="en-US" sz="3323">
                <a:solidFill>
                  <a:srgbClr val="2A2E3A"/>
                </a:solidFill>
                <a:latin typeface="Canva Sans"/>
                <a:ea typeface="Canva Sans"/>
                <a:cs typeface="Canva Sans"/>
                <a:sym typeface="Canva Sans"/>
              </a:rPr>
              <a:t>Industries that rely heavily on transparency and trust (e.g., food safety, pharmaceuticals) are likely to see the greatest benefits .</a:t>
            </a:r>
          </a:p>
          <a:p>
            <a:pPr algn="just">
              <a:lnSpc>
                <a:spcPts val="4653"/>
              </a:lnSpc>
            </a:pPr>
            <a:endParaRPr lang="en-US" sz="3323">
              <a:solidFill>
                <a:srgbClr val="2A2E3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325853" y="2549197"/>
            <a:ext cx="3272412" cy="3272412"/>
          </a:xfrm>
          <a:custGeom>
            <a:avLst/>
            <a:gdLst/>
            <a:ahLst/>
            <a:cxnLst/>
            <a:rect l="l" t="t" r="r" b="b"/>
            <a:pathLst>
              <a:path w="3272412" h="3272412">
                <a:moveTo>
                  <a:pt x="0" y="0"/>
                </a:moveTo>
                <a:lnTo>
                  <a:pt x="3272412" y="0"/>
                </a:lnTo>
                <a:lnTo>
                  <a:pt x="3272412" y="3272412"/>
                </a:lnTo>
                <a:lnTo>
                  <a:pt x="0" y="3272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700000">
            <a:off x="4859403" y="3689771"/>
            <a:ext cx="3272412" cy="3272412"/>
          </a:xfrm>
          <a:custGeom>
            <a:avLst/>
            <a:gdLst/>
            <a:ahLst/>
            <a:cxnLst/>
            <a:rect l="l" t="t" r="r" b="b"/>
            <a:pathLst>
              <a:path w="3272412" h="3272412">
                <a:moveTo>
                  <a:pt x="0" y="0"/>
                </a:moveTo>
                <a:lnTo>
                  <a:pt x="3272412" y="0"/>
                </a:lnTo>
                <a:lnTo>
                  <a:pt x="3272412" y="3272412"/>
                </a:lnTo>
                <a:lnTo>
                  <a:pt x="0" y="3272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991177" y="95164"/>
            <a:ext cx="6431635" cy="1552511"/>
          </a:xfrm>
          <a:custGeom>
            <a:avLst/>
            <a:gdLst/>
            <a:ahLst/>
            <a:cxnLst/>
            <a:rect l="l" t="t" r="r" b="b"/>
            <a:pathLst>
              <a:path w="6431635" h="1552511">
                <a:moveTo>
                  <a:pt x="0" y="0"/>
                </a:moveTo>
                <a:lnTo>
                  <a:pt x="6431635" y="0"/>
                </a:lnTo>
                <a:lnTo>
                  <a:pt x="6431635" y="1552511"/>
                </a:lnTo>
                <a:lnTo>
                  <a:pt x="0" y="1552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21321" y="3012033"/>
            <a:ext cx="2281477" cy="2362569"/>
          </a:xfrm>
          <a:custGeom>
            <a:avLst/>
            <a:gdLst/>
            <a:ahLst/>
            <a:cxnLst/>
            <a:rect l="l" t="t" r="r" b="b"/>
            <a:pathLst>
              <a:path w="2281477" h="2362569">
                <a:moveTo>
                  <a:pt x="0" y="0"/>
                </a:moveTo>
                <a:lnTo>
                  <a:pt x="2281476" y="0"/>
                </a:lnTo>
                <a:lnTo>
                  <a:pt x="2281476" y="2362569"/>
                </a:lnTo>
                <a:lnTo>
                  <a:pt x="0" y="23625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695" r="-4540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879819" y="5774652"/>
            <a:ext cx="4120780" cy="352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679" lvl="1" indent="-217839" algn="l">
              <a:lnSpc>
                <a:spcPts val="2825"/>
              </a:lnSpc>
              <a:spcBef>
                <a:spcPct val="0"/>
              </a:spcBef>
              <a:buFont typeface="Arial"/>
              <a:buChar char="•"/>
            </a:pPr>
            <a:r>
              <a:rPr lang="en-US" sz="2017" b="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Ongo</a:t>
            </a:r>
            <a:r>
              <a:rPr lang="en-US" sz="2017" b="1" u="non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ing research on new consensus algorithms (e.g., Proof of Stake) to improve scalability and reduce energy consumption.</a:t>
            </a:r>
          </a:p>
          <a:p>
            <a:pPr marL="435679" lvl="1" indent="-217839" algn="l">
              <a:lnSpc>
                <a:spcPts val="2825"/>
              </a:lnSpc>
              <a:spcBef>
                <a:spcPct val="0"/>
              </a:spcBef>
              <a:buFont typeface="Arial"/>
              <a:buChar char="•"/>
            </a:pPr>
            <a:r>
              <a:rPr lang="en-US" sz="2017" b="1" u="non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Exploring government regulations to create a standardized blockchain framework .</a:t>
            </a:r>
          </a:p>
          <a:p>
            <a:pPr marL="0" lvl="0" indent="0" algn="l">
              <a:lnSpc>
                <a:spcPts val="2825"/>
              </a:lnSpc>
              <a:spcBef>
                <a:spcPct val="0"/>
              </a:spcBef>
            </a:pPr>
            <a:endParaRPr lang="en-US" sz="2017" b="1" u="none">
              <a:solidFill>
                <a:srgbClr val="2A2E3A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687203" y="1833359"/>
            <a:ext cx="2506013" cy="7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2119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Directions:</a:t>
            </a:r>
          </a:p>
        </p:txBody>
      </p:sp>
      <p:sp>
        <p:nvSpPr>
          <p:cNvPr id="8" name="Freeform 8"/>
          <p:cNvSpPr/>
          <p:nvPr/>
        </p:nvSpPr>
        <p:spPr>
          <a:xfrm rot="2700000">
            <a:off x="14304004" y="2557111"/>
            <a:ext cx="3272412" cy="3272412"/>
          </a:xfrm>
          <a:custGeom>
            <a:avLst/>
            <a:gdLst/>
            <a:ahLst/>
            <a:cxnLst/>
            <a:rect l="l" t="t" r="r" b="b"/>
            <a:pathLst>
              <a:path w="3272412" h="3272412">
                <a:moveTo>
                  <a:pt x="0" y="0"/>
                </a:moveTo>
                <a:lnTo>
                  <a:pt x="3272411" y="0"/>
                </a:lnTo>
                <a:lnTo>
                  <a:pt x="3272411" y="3272412"/>
                </a:lnTo>
                <a:lnTo>
                  <a:pt x="0" y="3272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323196" y="4205687"/>
            <a:ext cx="2344826" cy="2337830"/>
          </a:xfrm>
          <a:custGeom>
            <a:avLst/>
            <a:gdLst/>
            <a:ahLst/>
            <a:cxnLst/>
            <a:rect l="l" t="t" r="r" b="b"/>
            <a:pathLst>
              <a:path w="2344826" h="2337830">
                <a:moveTo>
                  <a:pt x="0" y="0"/>
                </a:moveTo>
                <a:lnTo>
                  <a:pt x="2344826" y="0"/>
                </a:lnTo>
                <a:lnTo>
                  <a:pt x="2344826" y="2337830"/>
                </a:lnTo>
                <a:lnTo>
                  <a:pt x="0" y="2337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365" r="-1536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754614" y="3024402"/>
            <a:ext cx="2371192" cy="2362569"/>
          </a:xfrm>
          <a:custGeom>
            <a:avLst/>
            <a:gdLst/>
            <a:ahLst/>
            <a:cxnLst/>
            <a:rect l="l" t="t" r="r" b="b"/>
            <a:pathLst>
              <a:path w="2371192" h="2362569">
                <a:moveTo>
                  <a:pt x="0" y="0"/>
                </a:moveTo>
                <a:lnTo>
                  <a:pt x="2371191" y="0"/>
                </a:lnTo>
                <a:lnTo>
                  <a:pt x="2371191" y="2362569"/>
                </a:lnTo>
                <a:lnTo>
                  <a:pt x="0" y="23625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588084" y="6993294"/>
            <a:ext cx="4291735" cy="280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8" b="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Combining AI with blockchain can enhance supply chains by automating decisions and predictive analytics. AI analyzes blockchain data to optimize inventory, forecast demand, and assess supplier performance.</a:t>
            </a:r>
          </a:p>
          <a:p>
            <a:pPr marL="0" lvl="0" indent="0" algn="l">
              <a:lnSpc>
                <a:spcPts val="2531"/>
              </a:lnSpc>
              <a:spcBef>
                <a:spcPct val="0"/>
              </a:spcBef>
            </a:pPr>
            <a:endParaRPr lang="en-US" sz="2008" b="1">
              <a:solidFill>
                <a:srgbClr val="2A2E3A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12" name="Freeform 12"/>
          <p:cNvSpPr/>
          <p:nvPr/>
        </p:nvSpPr>
        <p:spPr>
          <a:xfrm rot="2700000">
            <a:off x="9814790" y="3702141"/>
            <a:ext cx="3272412" cy="3272412"/>
          </a:xfrm>
          <a:custGeom>
            <a:avLst/>
            <a:gdLst/>
            <a:ahLst/>
            <a:cxnLst/>
            <a:rect l="l" t="t" r="r" b="b"/>
            <a:pathLst>
              <a:path w="3272412" h="3272412">
                <a:moveTo>
                  <a:pt x="0" y="0"/>
                </a:moveTo>
                <a:lnTo>
                  <a:pt x="3272411" y="0"/>
                </a:lnTo>
                <a:lnTo>
                  <a:pt x="3272411" y="3272412"/>
                </a:lnTo>
                <a:lnTo>
                  <a:pt x="0" y="3272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321623" y="4193317"/>
            <a:ext cx="2231881" cy="2313945"/>
          </a:xfrm>
          <a:custGeom>
            <a:avLst/>
            <a:gdLst/>
            <a:ahLst/>
            <a:cxnLst/>
            <a:rect l="l" t="t" r="r" b="b"/>
            <a:pathLst>
              <a:path w="2231881" h="2313945">
                <a:moveTo>
                  <a:pt x="0" y="0"/>
                </a:moveTo>
                <a:lnTo>
                  <a:pt x="2231881" y="0"/>
                </a:lnTo>
                <a:lnTo>
                  <a:pt x="2231881" y="2313945"/>
                </a:lnTo>
                <a:lnTo>
                  <a:pt x="0" y="23139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3809" r="-50711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182859" y="312619"/>
            <a:ext cx="6048271" cy="105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0"/>
              </a:lnSpc>
            </a:pPr>
            <a:r>
              <a:rPr lang="en-US" sz="6500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FUTURE SCOPE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2738" y="5784177"/>
            <a:ext cx="3803266" cy="2475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  <a:spcBef>
                <a:spcPct val="0"/>
              </a:spcBef>
            </a:pPr>
            <a:r>
              <a:rPr lang="en-US" sz="2068" b="1" u="non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The future of blockchain in supply chains may include integration with the Internet of Things (IoT) to enable real-time monitoring of goods during transport.</a:t>
            </a:r>
          </a:p>
          <a:p>
            <a:pPr marL="0" lvl="0" indent="0" algn="l">
              <a:lnSpc>
                <a:spcPts val="2476"/>
              </a:lnSpc>
              <a:spcBef>
                <a:spcPct val="0"/>
              </a:spcBef>
            </a:pPr>
            <a:endParaRPr lang="en-US" sz="2068" b="1" u="none">
              <a:solidFill>
                <a:srgbClr val="2A2E3A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730437" y="6972776"/>
            <a:ext cx="4291735" cy="1918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  <a:spcBef>
                <a:spcPct val="0"/>
              </a:spcBef>
            </a:pPr>
            <a:r>
              <a:rPr lang="en-US" sz="2215" b="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Blockcha</a:t>
            </a:r>
            <a:r>
              <a:rPr lang="en-US" sz="2215" b="1" u="non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in solutions tailored to specific industries (e.g., agriculture, healthcare) are expected to emerge.</a:t>
            </a:r>
          </a:p>
          <a:p>
            <a:pPr marL="0" lvl="0" indent="0" algn="l">
              <a:lnSpc>
                <a:spcPts val="2791"/>
              </a:lnSpc>
              <a:spcBef>
                <a:spcPct val="0"/>
              </a:spcBef>
            </a:pPr>
            <a:endParaRPr lang="en-US" sz="2215" b="1" u="none">
              <a:solidFill>
                <a:srgbClr val="2A2E3A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09052" y="1833359"/>
            <a:ext cx="2506013" cy="7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2119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IoT and Blockchain Integration: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42602" y="3037601"/>
            <a:ext cx="2506013" cy="7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2119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Industry-Specific Solutions: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85878" y="3037601"/>
            <a:ext cx="3411131" cy="7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2119" b="1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Blockchain and Artificial Intelligence (AI):</a:t>
            </a:r>
          </a:p>
        </p:txBody>
      </p: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761937" y="-1696509"/>
            <a:ext cx="12883848" cy="12883848"/>
          </a:xfrm>
          <a:custGeom>
            <a:avLst/>
            <a:gdLst/>
            <a:ahLst/>
            <a:cxnLst/>
            <a:rect l="l" t="t" r="r" b="b"/>
            <a:pathLst>
              <a:path w="12883848" h="12883848">
                <a:moveTo>
                  <a:pt x="0" y="0"/>
                </a:moveTo>
                <a:lnTo>
                  <a:pt x="12883847" y="0"/>
                </a:lnTo>
                <a:lnTo>
                  <a:pt x="12883847" y="12883847"/>
                </a:lnTo>
                <a:lnTo>
                  <a:pt x="0" y="12883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64696" y="612029"/>
            <a:ext cx="3101225" cy="1491813"/>
          </a:xfrm>
          <a:custGeom>
            <a:avLst/>
            <a:gdLst/>
            <a:ahLst/>
            <a:cxnLst/>
            <a:rect l="l" t="t" r="r" b="b"/>
            <a:pathLst>
              <a:path w="3101225" h="1491813">
                <a:moveTo>
                  <a:pt x="0" y="0"/>
                </a:moveTo>
                <a:lnTo>
                  <a:pt x="3101225" y="0"/>
                </a:lnTo>
                <a:lnTo>
                  <a:pt x="3101225" y="1491813"/>
                </a:lnTo>
                <a:lnTo>
                  <a:pt x="0" y="1491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95" b="-2795"/>
            </a:stretch>
          </a:blipFill>
          <a:ln w="66675" cap="rnd">
            <a:solidFill>
              <a:srgbClr val="000000"/>
            </a:solidFill>
            <a:prstDash val="solid"/>
            <a:round/>
          </a:ln>
        </p:spPr>
      </p:sp>
      <p:sp>
        <p:nvSpPr>
          <p:cNvPr id="4" name="Freeform 4"/>
          <p:cNvSpPr/>
          <p:nvPr/>
        </p:nvSpPr>
        <p:spPr>
          <a:xfrm>
            <a:off x="7061150" y="5620874"/>
            <a:ext cx="2804772" cy="1971973"/>
          </a:xfrm>
          <a:custGeom>
            <a:avLst/>
            <a:gdLst/>
            <a:ahLst/>
            <a:cxnLst/>
            <a:rect l="l" t="t" r="r" b="b"/>
            <a:pathLst>
              <a:path w="2804772" h="1971973">
                <a:moveTo>
                  <a:pt x="0" y="0"/>
                </a:moveTo>
                <a:lnTo>
                  <a:pt x="2804771" y="0"/>
                </a:lnTo>
                <a:lnTo>
                  <a:pt x="2804771" y="1971972"/>
                </a:lnTo>
                <a:lnTo>
                  <a:pt x="0" y="1971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536" b="-32695"/>
            </a:stretch>
          </a:blipFill>
          <a:ln w="66675" cap="rnd">
            <a:solidFill>
              <a:srgbClr val="000000"/>
            </a:solidFill>
            <a:prstDash val="solid"/>
            <a:round/>
          </a:ln>
        </p:spPr>
      </p:sp>
      <p:sp>
        <p:nvSpPr>
          <p:cNvPr id="5" name="TextBox 5"/>
          <p:cNvSpPr txBox="1"/>
          <p:nvPr/>
        </p:nvSpPr>
        <p:spPr>
          <a:xfrm>
            <a:off x="486520" y="4245374"/>
            <a:ext cx="6278177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CASE STUDY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84564" y="592979"/>
            <a:ext cx="7743700" cy="415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2260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Case Study 1: Maersk and IBM – TradeLens</a:t>
            </a:r>
          </a:p>
          <a:p>
            <a:pPr algn="l">
              <a:lnSpc>
                <a:spcPts val="2712"/>
              </a:lnSpc>
            </a:pPr>
            <a:endParaRPr lang="en-US" sz="2260" b="1">
              <a:solidFill>
                <a:srgbClr val="2A2E3A"/>
              </a:solidFill>
              <a:latin typeface="Klein Bold"/>
              <a:ea typeface="Klein Bold"/>
              <a:cs typeface="Klein Bold"/>
              <a:sym typeface="Klein Bold"/>
            </a:endParaRPr>
          </a:p>
          <a:p>
            <a:pPr marL="487970" lvl="1" indent="-243985" algn="l">
              <a:lnSpc>
                <a:spcPts val="2712"/>
              </a:lnSpc>
              <a:buFont typeface="Arial"/>
              <a:buChar char="•"/>
            </a:pPr>
            <a:r>
              <a:rPr lang="en-US" sz="2260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Overview: Maersk partnered with IBM to create TradeLens, a blockchain-based platform for global shipping.</a:t>
            </a:r>
          </a:p>
          <a:p>
            <a:pPr marL="487970" lvl="1" indent="-243985" algn="l">
              <a:lnSpc>
                <a:spcPts val="2712"/>
              </a:lnSpc>
              <a:buFont typeface="Arial"/>
              <a:buChar char="•"/>
            </a:pPr>
            <a:r>
              <a:rPr lang="en-US" sz="2260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Blockchain Role: Provides real-time data sharing among shipping companies, ports, and customs.</a:t>
            </a:r>
          </a:p>
          <a:p>
            <a:pPr marL="487970" lvl="1" indent="-243985" algn="l">
              <a:lnSpc>
                <a:spcPts val="2712"/>
              </a:lnSpc>
              <a:buFont typeface="Arial"/>
              <a:buChar char="•"/>
            </a:pPr>
            <a:r>
              <a:rPr lang="en-US" sz="2260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Results: Reduced paperwork, improved tracking, and increased transparency across supply chains.</a:t>
            </a:r>
          </a:p>
          <a:p>
            <a:pPr marL="487970" lvl="1" indent="-243985" algn="l">
              <a:lnSpc>
                <a:spcPts val="2712"/>
              </a:lnSpc>
              <a:buFont typeface="Arial"/>
              <a:buChar char="•"/>
            </a:pPr>
            <a:r>
              <a:rPr lang="en-US" sz="2260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Impact: Adopted by over 100 organizations, reducing delays and improving collaboration.[5]</a:t>
            </a:r>
          </a:p>
          <a:p>
            <a:pPr marL="0" lvl="0" indent="0" algn="l">
              <a:lnSpc>
                <a:spcPts val="2712"/>
              </a:lnSpc>
              <a:spcBef>
                <a:spcPct val="0"/>
              </a:spcBef>
            </a:pPr>
            <a:endParaRPr lang="en-US" sz="2260" b="1">
              <a:solidFill>
                <a:srgbClr val="2A2E3A"/>
              </a:solidFill>
              <a:latin typeface="Klein Bold"/>
              <a:ea typeface="Klein Bold"/>
              <a:cs typeface="Klein Bold"/>
              <a:sym typeface="Klei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84564" y="5143500"/>
            <a:ext cx="7743700" cy="4898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472" b="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Case Study 2: De Beers – Tracr</a:t>
            </a:r>
          </a:p>
          <a:p>
            <a:pPr algn="l">
              <a:lnSpc>
                <a:spcPts val="2967"/>
              </a:lnSpc>
            </a:pPr>
            <a:endParaRPr lang="en-US" sz="2472" b="1">
              <a:solidFill>
                <a:srgbClr val="2A2E3A"/>
              </a:solidFill>
              <a:latin typeface="Helios Bold"/>
              <a:ea typeface="Helios Bold"/>
              <a:cs typeface="Helios Bold"/>
              <a:sym typeface="Helios Bold"/>
            </a:endParaRPr>
          </a:p>
          <a:p>
            <a:pPr marL="533833" lvl="1" indent="-266917" algn="l">
              <a:lnSpc>
                <a:spcPts val="2967"/>
              </a:lnSpc>
              <a:buFont typeface="Arial"/>
              <a:buChar char="•"/>
            </a:pPr>
            <a:r>
              <a:rPr lang="en-US" sz="2472" b="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Overview: De Beers developed Tracr, a blockchain platform to track diamonds from mine to consumer.</a:t>
            </a:r>
          </a:p>
          <a:p>
            <a:pPr marL="533833" lvl="1" indent="-266917" algn="l">
              <a:lnSpc>
                <a:spcPts val="2967"/>
              </a:lnSpc>
              <a:buFont typeface="Arial"/>
              <a:buChar char="•"/>
            </a:pPr>
            <a:r>
              <a:rPr lang="en-US" sz="2472" b="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Blockchain Role: Verifies diamond provenance, ensuring authenticity and ethical sourcing.</a:t>
            </a:r>
          </a:p>
          <a:p>
            <a:pPr marL="533833" lvl="1" indent="-266917" algn="l">
              <a:lnSpc>
                <a:spcPts val="2967"/>
              </a:lnSpc>
              <a:buFont typeface="Arial"/>
              <a:buChar char="•"/>
            </a:pPr>
            <a:r>
              <a:rPr lang="en-US" sz="2472" b="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Results: Improved transparency, reduced counterfeit risks, and increased consumer trust.</a:t>
            </a:r>
          </a:p>
          <a:p>
            <a:pPr marL="533833" lvl="1" indent="-266917" algn="l">
              <a:lnSpc>
                <a:spcPts val="2967"/>
              </a:lnSpc>
              <a:buFont typeface="Arial"/>
              <a:buChar char="•"/>
            </a:pPr>
            <a:r>
              <a:rPr lang="en-US" sz="2472" b="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Impact: Revolutionized diamond supply chains by ensuring responsible sourcing.[5]</a:t>
            </a:r>
          </a:p>
          <a:p>
            <a:pPr marL="0" lvl="0" indent="0" algn="l">
              <a:lnSpc>
                <a:spcPts val="2967"/>
              </a:lnSpc>
              <a:spcBef>
                <a:spcPct val="0"/>
              </a:spcBef>
            </a:pPr>
            <a:endParaRPr lang="en-US" sz="2472" b="1">
              <a:solidFill>
                <a:srgbClr val="2A2E3A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340491"/>
            <a:chOff x="0" y="0"/>
            <a:chExt cx="4816593" cy="6164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16426"/>
            </a:xfrm>
            <a:custGeom>
              <a:avLst/>
              <a:gdLst/>
              <a:ahLst/>
              <a:cxnLst/>
              <a:rect l="l" t="t" r="r" b="b"/>
              <a:pathLst>
                <a:path w="4816592" h="616426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683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21595" y="493645"/>
            <a:ext cx="5507520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REFERENCES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28825" y="2740350"/>
            <a:ext cx="7704830" cy="1334125"/>
            <a:chOff x="0" y="0"/>
            <a:chExt cx="10273107" cy="1778833"/>
          </a:xfrm>
        </p:grpSpPr>
        <p:sp>
          <p:nvSpPr>
            <p:cNvPr id="7" name="Freeform 7"/>
            <p:cNvSpPr/>
            <p:nvPr/>
          </p:nvSpPr>
          <p:spPr>
            <a:xfrm>
              <a:off x="0" y="622938"/>
              <a:ext cx="565317" cy="565317"/>
            </a:xfrm>
            <a:custGeom>
              <a:avLst/>
              <a:gdLst/>
              <a:ahLst/>
              <a:cxnLst/>
              <a:rect l="l" t="t" r="r" b="b"/>
              <a:pathLst>
                <a:path w="565317" h="565317">
                  <a:moveTo>
                    <a:pt x="0" y="0"/>
                  </a:moveTo>
                  <a:lnTo>
                    <a:pt x="565317" y="0"/>
                  </a:lnTo>
                  <a:lnTo>
                    <a:pt x="565317" y="565316"/>
                  </a:lnTo>
                  <a:lnTo>
                    <a:pt x="0" y="565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1342922" y="-66675"/>
              <a:ext cx="8930185" cy="1845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19"/>
                </a:lnSpc>
                <a:spcBef>
                  <a:spcPct val="0"/>
                </a:spcBef>
              </a:pPr>
              <a:r>
                <a:rPr lang="en-US" sz="2656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1.Nakamoto, S. (2008). Bitcoin: A Peer-to-Peer Electronic Cash System. Retrieved from bitcoin.org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28825" y="4474334"/>
            <a:ext cx="7704830" cy="1801328"/>
            <a:chOff x="0" y="0"/>
            <a:chExt cx="10273107" cy="2401771"/>
          </a:xfrm>
        </p:grpSpPr>
        <p:sp>
          <p:nvSpPr>
            <p:cNvPr id="10" name="Freeform 10"/>
            <p:cNvSpPr/>
            <p:nvPr/>
          </p:nvSpPr>
          <p:spPr>
            <a:xfrm>
              <a:off x="0" y="918227"/>
              <a:ext cx="565317" cy="565317"/>
            </a:xfrm>
            <a:custGeom>
              <a:avLst/>
              <a:gdLst/>
              <a:ahLst/>
              <a:cxnLst/>
              <a:rect l="l" t="t" r="r" b="b"/>
              <a:pathLst>
                <a:path w="565317" h="565317">
                  <a:moveTo>
                    <a:pt x="0" y="0"/>
                  </a:moveTo>
                  <a:lnTo>
                    <a:pt x="565317" y="0"/>
                  </a:lnTo>
                  <a:lnTo>
                    <a:pt x="565317" y="565317"/>
                  </a:lnTo>
                  <a:lnTo>
                    <a:pt x="0" y="565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342922" y="-66675"/>
              <a:ext cx="8930185" cy="24684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19"/>
                </a:lnSpc>
                <a:spcBef>
                  <a:spcPct val="0"/>
                </a:spcBef>
              </a:pPr>
              <a:r>
                <a:rPr lang="en-US" sz="2656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2. Kshetri, N. (2018). "1 Blockchain's Roles in Meeting Key Supply Chain Management Objectives." International Journal of Information Management, 39, 80-89.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28825" y="6675712"/>
            <a:ext cx="7539863" cy="1305560"/>
            <a:chOff x="0" y="0"/>
            <a:chExt cx="10053151" cy="1740747"/>
          </a:xfrm>
        </p:grpSpPr>
        <p:sp>
          <p:nvSpPr>
            <p:cNvPr id="13" name="Freeform 13"/>
            <p:cNvSpPr/>
            <p:nvPr/>
          </p:nvSpPr>
          <p:spPr>
            <a:xfrm>
              <a:off x="0" y="593767"/>
              <a:ext cx="553213" cy="553213"/>
            </a:xfrm>
            <a:custGeom>
              <a:avLst/>
              <a:gdLst/>
              <a:ahLst/>
              <a:cxnLst/>
              <a:rect l="l" t="t" r="r" b="b"/>
              <a:pathLst>
                <a:path w="553213" h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314169" y="-66675"/>
              <a:ext cx="8738982" cy="180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3. Wang, Y., Gunasekaran, A., &amp; Ngai, E. (2016). "Big Data in Logistics and Supply Chain Management."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25820" y="3168774"/>
            <a:ext cx="7539863" cy="1305560"/>
            <a:chOff x="0" y="0"/>
            <a:chExt cx="10053151" cy="1740747"/>
          </a:xfrm>
        </p:grpSpPr>
        <p:sp>
          <p:nvSpPr>
            <p:cNvPr id="16" name="Freeform 16"/>
            <p:cNvSpPr/>
            <p:nvPr/>
          </p:nvSpPr>
          <p:spPr>
            <a:xfrm>
              <a:off x="0" y="593767"/>
              <a:ext cx="553213" cy="553213"/>
            </a:xfrm>
            <a:custGeom>
              <a:avLst/>
              <a:gdLst/>
              <a:ahLst/>
              <a:cxnLst/>
              <a:rect l="l" t="t" r="r" b="b"/>
              <a:pathLst>
                <a:path w="553213" h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1314169" y="-66675"/>
              <a:ext cx="8738982" cy="180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4. Xie, J., &amp; Wu, D. (2020). "Blockchain Technology in the Logistics and Supply Chain Management."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125820" y="5165682"/>
            <a:ext cx="7539863" cy="2219960"/>
            <a:chOff x="0" y="0"/>
            <a:chExt cx="10053151" cy="2959947"/>
          </a:xfrm>
        </p:grpSpPr>
        <p:sp>
          <p:nvSpPr>
            <p:cNvPr id="19" name="Freeform 19"/>
            <p:cNvSpPr/>
            <p:nvPr/>
          </p:nvSpPr>
          <p:spPr>
            <a:xfrm>
              <a:off x="0" y="1203367"/>
              <a:ext cx="553213" cy="553213"/>
            </a:xfrm>
            <a:custGeom>
              <a:avLst/>
              <a:gdLst/>
              <a:ahLst/>
              <a:cxnLst/>
              <a:rect l="l" t="t" r="r" b="b"/>
              <a:pathLst>
                <a:path w="553213" h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1314169" y="-66675"/>
              <a:ext cx="8738982" cy="30266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5.Tap</a:t>
              </a: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scott, D., &amp; Tapscott, A. (2016). Blockchain Revolution: How the Technology Behind Bitcoin Is Changing Money, Business, and the World.</a:t>
              </a:r>
            </a:p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endParaRPr lang="en-US" sz="25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0"/>
            <a:ext cx="18288000" cy="2340491"/>
            <a:chOff x="0" y="0"/>
            <a:chExt cx="24384000" cy="3120655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4">
              <a:alphaModFix amt="14000"/>
            </a:blip>
            <a:srcRect t="45734" b="45734"/>
            <a:stretch>
              <a:fillRect/>
            </a:stretch>
          </p:blipFill>
          <p:spPr>
            <a:xfrm>
              <a:off x="0" y="0"/>
              <a:ext cx="24384000" cy="312065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3413">
            <a:off x="9283310" y="-2113117"/>
            <a:ext cx="13265113" cy="13265113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267802" y="-695325"/>
            <a:ext cx="12417410" cy="11560608"/>
            <a:chOff x="0" y="0"/>
            <a:chExt cx="6350000" cy="5911850"/>
          </a:xfrm>
        </p:grpSpPr>
        <p:sp>
          <p:nvSpPr>
            <p:cNvPr id="4" name="Freeform 4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4">
                <a:alphaModFix amt="90000"/>
              </a:blip>
              <a:stretch>
                <a:fillRect l="-19842" r="-1984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028700" y="4102991"/>
            <a:ext cx="1159668" cy="115966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001016"/>
            <a:ext cx="5837845" cy="229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Connect </a:t>
            </a:r>
            <a:r>
              <a:rPr lang="en-US" sz="6999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with us.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803108" y="4024226"/>
            <a:ext cx="5423560" cy="1022740"/>
            <a:chOff x="0" y="0"/>
            <a:chExt cx="7231414" cy="1363654"/>
          </a:xfrm>
        </p:grpSpPr>
        <p:sp>
          <p:nvSpPr>
            <p:cNvPr id="10" name="TextBox 10"/>
            <p:cNvSpPr txBox="1"/>
            <p:nvPr/>
          </p:nvSpPr>
          <p:spPr>
            <a:xfrm>
              <a:off x="0" y="735004"/>
              <a:ext cx="723141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A2E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jagtapnikhil2411@gmail.com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7231414" cy="58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Email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910566" y="6255705"/>
            <a:ext cx="5208644" cy="1022740"/>
            <a:chOff x="0" y="0"/>
            <a:chExt cx="6944859" cy="136365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735004"/>
              <a:ext cx="6944859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A2E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9503311351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6944859" cy="58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Call us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417102" y="4535596"/>
            <a:ext cx="382865" cy="294458"/>
          </a:xfrm>
          <a:custGeom>
            <a:avLst/>
            <a:gdLst/>
            <a:ahLst/>
            <a:cxnLst/>
            <a:rect l="l" t="t" r="r" b="b"/>
            <a:pathLst>
              <a:path w="382865" h="294458">
                <a:moveTo>
                  <a:pt x="0" y="0"/>
                </a:moveTo>
                <a:lnTo>
                  <a:pt x="382865" y="0"/>
                </a:lnTo>
                <a:lnTo>
                  <a:pt x="382865" y="294458"/>
                </a:lnTo>
                <a:lnTo>
                  <a:pt x="0" y="2944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28700" y="6255705"/>
            <a:ext cx="1159668" cy="115966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417102" y="6614008"/>
            <a:ext cx="322882" cy="443062"/>
          </a:xfrm>
          <a:custGeom>
            <a:avLst/>
            <a:gdLst/>
            <a:ahLst/>
            <a:cxnLst/>
            <a:rect l="l" t="t" r="r" b="b"/>
            <a:pathLst>
              <a:path w="322882" h="443062">
                <a:moveTo>
                  <a:pt x="0" y="0"/>
                </a:moveTo>
                <a:lnTo>
                  <a:pt x="322881" y="0"/>
                </a:lnTo>
                <a:lnTo>
                  <a:pt x="322881" y="443062"/>
                </a:lnTo>
                <a:lnTo>
                  <a:pt x="0" y="4430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276139" y="8329773"/>
            <a:ext cx="5342967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Thank </a:t>
            </a:r>
            <a:r>
              <a:rPr lang="en-US" sz="6999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You..</a:t>
            </a: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968</Words>
  <Application>Microsoft Office PowerPoint</Application>
  <PresentationFormat>Custom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Calibri</vt:lpstr>
      <vt:lpstr>Arimo Bold</vt:lpstr>
      <vt:lpstr>Helios</vt:lpstr>
      <vt:lpstr>Helios Bold</vt:lpstr>
      <vt:lpstr>Arial</vt:lpstr>
      <vt:lpstr>Canva Sans</vt:lpstr>
      <vt:lpstr>Canva Sans Bold</vt:lpstr>
      <vt:lpstr>Klein Bold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Presentation</dc:title>
  <cp:lastModifiedBy>Admin</cp:lastModifiedBy>
  <cp:revision>2</cp:revision>
  <dcterms:created xsi:type="dcterms:W3CDTF">2006-08-16T00:00:00Z</dcterms:created>
  <dcterms:modified xsi:type="dcterms:W3CDTF">2024-10-03T20:34:14Z</dcterms:modified>
  <dc:identifier>DAGSgM4ztQI</dc:identifier>
</cp:coreProperties>
</file>